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74" r:id="rId10"/>
    <p:sldId id="263" r:id="rId11"/>
    <p:sldId id="275" r:id="rId12"/>
    <p:sldId id="264" r:id="rId13"/>
    <p:sldId id="276" r:id="rId14"/>
    <p:sldId id="265" r:id="rId15"/>
    <p:sldId id="271" r:id="rId16"/>
    <p:sldId id="272" r:id="rId17"/>
    <p:sldId id="266" r:id="rId18"/>
    <p:sldId id="267" r:id="rId19"/>
    <p:sldId id="268" r:id="rId20"/>
    <p:sldId id="269" r:id="rId21"/>
    <p:sldId id="270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dhi Jain" userId="2e52bb0cbbf5baa5" providerId="LiveId" clId="{26183837-43AE-4110-B955-54A9B6926E28}"/>
    <pc:docChg chg="modSld">
      <pc:chgData name="Ridhi Jain" userId="2e52bb0cbbf5baa5" providerId="LiveId" clId="{26183837-43AE-4110-B955-54A9B6926E28}" dt="2026-08-10T08:14:02.153" v="9" actId="20577"/>
      <pc:docMkLst>
        <pc:docMk/>
      </pc:docMkLst>
      <pc:sldChg chg="modSp mod">
        <pc:chgData name="Ridhi Jain" userId="2e52bb0cbbf5baa5" providerId="LiveId" clId="{26183837-43AE-4110-B955-54A9B6926E28}" dt="2026-08-10T08:14:02.153" v="9" actId="20577"/>
        <pc:sldMkLst>
          <pc:docMk/>
          <pc:sldMk cId="0" sldId="256"/>
        </pc:sldMkLst>
        <pc:spChg chg="mod">
          <ac:chgData name="Ridhi Jain" userId="2e52bb0cbbf5baa5" providerId="LiveId" clId="{26183837-43AE-4110-B955-54A9B6926E28}" dt="2026-08-10T08:14:02.153" v="9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80234&amp;picture=thank-you-text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C7F"/>
                </a:solidFill>
                <a:latin typeface="Aptos"/>
              </a:rPr>
              <a:t>API Security Testing • VAmPI  | 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881360" cy="4846320"/>
          </a:xfrm>
          <a:prstGeom prst="round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09728" cy="4846320"/>
          </a:xfrm>
          <a:prstGeom prst="rect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2999" y="1508760"/>
            <a:ext cx="6588889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dirty="0">
                <a:solidFill>
                  <a:srgbClr val="FFFFFF"/>
                </a:solidFill>
              </a:rPr>
              <a:t>API </a:t>
            </a:r>
            <a:r>
              <a:rPr lang="en-US" sz="4200" b="1" dirty="0">
                <a:solidFill>
                  <a:srgbClr val="FFFFFF"/>
                </a:solidFill>
              </a:rPr>
              <a:t> </a:t>
            </a:r>
            <a:r>
              <a:rPr sz="4200" b="1" dirty="0">
                <a:solidFill>
                  <a:srgbClr val="FFFFFF"/>
                </a:solidFill>
              </a:rPr>
              <a:t>SECURITY</a:t>
            </a:r>
            <a:r>
              <a:rPr lang="en-US" sz="4200" b="1" dirty="0">
                <a:solidFill>
                  <a:srgbClr val="FFFFFF"/>
                </a:solidFill>
              </a:rPr>
              <a:t>  </a:t>
            </a:r>
            <a:r>
              <a:rPr sz="4200" b="1" dirty="0">
                <a:solidFill>
                  <a:srgbClr val="FFFFFF"/>
                </a:solidFill>
              </a:rPr>
              <a:t>TESTING</a:t>
            </a:r>
          </a:p>
          <a:p>
            <a:r>
              <a:rPr sz="2200" dirty="0" err="1">
                <a:solidFill>
                  <a:srgbClr val="68DCD2"/>
                </a:solidFill>
              </a:rPr>
              <a:t>VAmPI</a:t>
            </a:r>
            <a:r>
              <a:rPr sz="2200" dirty="0">
                <a:solidFill>
                  <a:srgbClr val="68DCD2"/>
                </a:solidFill>
              </a:rPr>
              <a:t> using Postman &amp; Burp Suite</a:t>
            </a:r>
          </a:p>
          <a:p>
            <a:r>
              <a:rPr sz="1500" dirty="0">
                <a:solidFill>
                  <a:srgbClr val="CDDAEB"/>
                </a:solidFill>
              </a:rPr>
              <a:t>
</a:t>
            </a:r>
            <a:r>
              <a:rPr lang="en-US" dirty="0">
                <a:solidFill>
                  <a:srgbClr val="CDDAEB"/>
                </a:solidFill>
              </a:rPr>
              <a:t>   </a:t>
            </a:r>
            <a:r>
              <a:rPr dirty="0">
                <a:solidFill>
                  <a:srgbClr val="CDDAEB"/>
                </a:solidFill>
              </a:rPr>
              <a:t>Ridhi Jain </a:t>
            </a:r>
            <a:endParaRPr lang="en-US" dirty="0">
              <a:solidFill>
                <a:srgbClr val="CDDAEB"/>
              </a:solidFill>
            </a:endParaRPr>
          </a:p>
          <a:p>
            <a:r>
              <a:rPr dirty="0">
                <a:solidFill>
                  <a:srgbClr val="CDDAEB"/>
                </a:solidFill>
              </a:rPr>
              <a:t>   Cybersecurity  </a:t>
            </a:r>
            <a:r>
              <a:rPr lang="en-US" dirty="0">
                <a:solidFill>
                  <a:srgbClr val="CDDAEB"/>
                </a:solidFill>
              </a:rPr>
              <a:t>(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Web Application Security)</a:t>
            </a:r>
          </a:p>
          <a:p>
            <a:r>
              <a:rPr dirty="0">
                <a:solidFill>
                  <a:srgbClr val="CDDAEB"/>
                </a:solidFill>
              </a:rPr>
              <a:t> </a:t>
            </a:r>
          </a:p>
        </p:txBody>
      </p:sp>
      <p:sp>
        <p:nvSpPr>
          <p:cNvPr id="7" name="Oval 6"/>
          <p:cNvSpPr/>
          <p:nvPr/>
        </p:nvSpPr>
        <p:spPr>
          <a:xfrm>
            <a:off x="9692640" y="1600200"/>
            <a:ext cx="384048" cy="384048"/>
          </a:xfrm>
          <a:prstGeom prst="ellipse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378440" y="2331720"/>
            <a:ext cx="384048" cy="384048"/>
          </a:xfrm>
          <a:prstGeom prst="ellipse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29800" y="3154680"/>
            <a:ext cx="384048" cy="384048"/>
          </a:xfrm>
          <a:prstGeom prst="ellipse">
            <a:avLst/>
          </a:prstGeom>
          <a:solidFill>
            <a:srgbClr val="E2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61320" y="3931920"/>
            <a:ext cx="384048" cy="384048"/>
          </a:xfrm>
          <a:prstGeom prst="ellipse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33C"/>
                </a:solidFill>
                <a:latin typeface="Aptos Display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C7F"/>
                </a:solidFill>
              </a:rPr>
              <a:t>Quick introduction to the target and 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C7F"/>
                </a:solidFill>
              </a:rPr>
              <a:t>API Security Testing • VAmPI  |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52628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API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297180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API endpoint security testing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Authentication &amp; authorization checks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Request / response analysis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Input &amp; parameter testing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Security weakness identification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64008" cy="4526280"/>
          </a:xfrm>
          <a:prstGeom prst="rect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49047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VAmPI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297180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Deliberately vulnerable REST API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Controlled testing environment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Multiple API endpoints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User &amp; authentication functionality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Designed for security practice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64008" cy="4526280"/>
          </a:xfrm>
          <a:prstGeom prst="rect">
            <a:avLst/>
          </a:prstGeom>
          <a:solidFill>
            <a:srgbClr val="E2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49047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Project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39112"/>
            <a:ext cx="297180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Docker-based deployment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Endpoint discovery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Postman API testing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Burp Suite interception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Vulnerability analysis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Evidence &amp;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33C"/>
                </a:solidFill>
                <a:latin typeface="Aptos Display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C7F"/>
                </a:solidFill>
              </a:rPr>
              <a:t>Why the project was performed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C7F"/>
                </a:solidFill>
              </a:rPr>
              <a:t>API Security Testing • VAmPI  |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52628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475488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APIs may have improper access controls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Sensitive user information may be exposed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Privilege-related parameters may be misused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Rate limiting may be insufficient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Controlled security assessment was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325880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80760" y="1325880"/>
            <a:ext cx="64008" cy="4526280"/>
          </a:xfrm>
          <a:prstGeom prst="rect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49047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39112"/>
            <a:ext cx="475488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Set up VAmPI locally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Identify API endpoints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Test requests with Postman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Inspect traffic using Burp Suite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Identify security-relevant findings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Document evidence and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C7F"/>
                </a:solidFill>
                <a:latin typeface="Aptos"/>
              </a:rPr>
              <a:t>API Security Testing • VAmPI  | 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Tools &amp;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C7F"/>
                </a:solidFill>
              </a:rPr>
              <a:t>Software used during the practical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69164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  <a:latin typeface="Aptos Display"/>
              </a:rPr>
              <a:t>VAmPI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297180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33041"/>
                </a:solidFill>
                <a:latin typeface="Aptos"/>
              </a:rPr>
              <a:t>Vulnerable API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64008" cy="1691640"/>
          </a:xfrm>
          <a:prstGeom prst="rect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581912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  <a:latin typeface="Aptos Display"/>
              </a:rPr>
              <a:t>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30552"/>
            <a:ext cx="297180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33041"/>
                </a:solidFill>
                <a:latin typeface="Aptos"/>
              </a:rPr>
              <a:t>Containerized local environment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59" y="1417320"/>
            <a:ext cx="64008" cy="1691640"/>
          </a:xfrm>
          <a:prstGeom prst="rect">
            <a:avLst/>
          </a:prstGeom>
          <a:solidFill>
            <a:srgbClr val="E2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59" y="1581912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  <a:latin typeface="Aptos Display"/>
              </a:rPr>
              <a:t>Postman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130552"/>
            <a:ext cx="297180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33041"/>
                </a:solidFill>
                <a:latin typeface="Aptos"/>
              </a:rPr>
              <a:t>API request &amp; response testing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64008" cy="1691640"/>
          </a:xfrm>
          <a:prstGeom prst="rect">
            <a:avLst/>
          </a:prstGeom>
          <a:solidFill>
            <a:srgbClr val="D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730752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  <a:latin typeface="Aptos Display"/>
              </a:rPr>
              <a:t>Burp Suite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79392"/>
            <a:ext cx="297180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33041"/>
                </a:solidFill>
                <a:latin typeface="Aptos"/>
              </a:rPr>
              <a:t>Proxy, HTTP History &amp; Repeater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566160"/>
            <a:ext cx="64008" cy="169164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3730752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  <a:latin typeface="Aptos Display"/>
              </a:rPr>
              <a:t>Swagger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279392"/>
            <a:ext cx="297180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33041"/>
                </a:solidFill>
                <a:latin typeface="Aptos"/>
              </a:rPr>
              <a:t>Endpoint discovery &amp; documentation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59" y="3566160"/>
            <a:ext cx="64008" cy="1691640"/>
          </a:xfrm>
          <a:prstGeom prst="rect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9" y="3730752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  <a:latin typeface="Aptos Display"/>
              </a:rPr>
              <a:t>PowerShell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4279392"/>
            <a:ext cx="297180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33041"/>
                </a:solidFill>
                <a:latin typeface="Aptos"/>
              </a:rPr>
              <a:t>Docker commands &amp; troubleshooting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33C"/>
                </a:solidFill>
                <a:latin typeface="Aptos Display"/>
              </a:rPr>
              <a:t>Environment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C7F"/>
                </a:solidFill>
              </a:rPr>
              <a:t>Tools and flow used for the local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C7F"/>
                </a:solidFill>
              </a:rPr>
              <a:t>API Security Testing • VAmPI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965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64008" cy="356616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01 • 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1554480" cy="2697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Windows system</a:t>
            </a:r>
          </a:p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PowerShell terminal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71600"/>
            <a:ext cx="1965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0" y="1371600"/>
            <a:ext cx="64008" cy="3566160"/>
          </a:xfrm>
          <a:prstGeom prst="rect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1800" y="1536192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02 • 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084832"/>
            <a:ext cx="1554480" cy="2697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Docker installed</a:t>
            </a:r>
          </a:p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VAmPI container</a:t>
            </a:r>
          </a:p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Local application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371600"/>
            <a:ext cx="1965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46320" y="1371600"/>
            <a:ext cx="64008" cy="3566160"/>
          </a:xfrm>
          <a:prstGeom prst="rect">
            <a:avLst/>
          </a:prstGeom>
          <a:solidFill>
            <a:srgbClr val="E2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1536192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03 •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084832"/>
            <a:ext cx="1554480" cy="2697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VAmPI REST API</a:t>
            </a:r>
          </a:p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Swagger/OpenAPI</a:t>
            </a:r>
          </a:p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Local endpoints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1371600"/>
            <a:ext cx="1965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49440" y="1371600"/>
            <a:ext cx="64008" cy="3566160"/>
          </a:xfrm>
          <a:prstGeom prst="rect">
            <a:avLst/>
          </a:prstGeom>
          <a:solidFill>
            <a:srgbClr val="D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78040" y="1536192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04 •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084832"/>
            <a:ext cx="1554480" cy="2697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Postman requests</a:t>
            </a:r>
          </a:p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Burp Proxy</a:t>
            </a:r>
          </a:p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HTTP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371600"/>
            <a:ext cx="1965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52560" y="1371600"/>
            <a:ext cx="64008" cy="356616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60" y="1536192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05 •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084832"/>
            <a:ext cx="1554480" cy="2697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Responses captured</a:t>
            </a:r>
          </a:p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Screenshots taken</a:t>
            </a:r>
          </a:p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Findings documented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C7F"/>
                </a:solidFill>
                <a:latin typeface="Aptos"/>
              </a:rPr>
              <a:t>API Security Testing • VAmPI  | 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Testing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C7F"/>
                </a:solidFill>
              </a:rPr>
              <a:t>Step-by-step security assessment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664208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64008" cy="237744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12527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42032"/>
            <a:ext cx="1252728" cy="1508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33041"/>
                </a:solidFill>
                <a:latin typeface="Aptos"/>
              </a:rPr>
              <a:t>Environment
Setup</a:t>
            </a:r>
          </a:p>
        </p:txBody>
      </p:sp>
      <p:sp>
        <p:nvSpPr>
          <p:cNvPr id="10" name="Chevron 9"/>
          <p:cNvSpPr/>
          <p:nvPr/>
        </p:nvSpPr>
        <p:spPr>
          <a:xfrm>
            <a:off x="2093976" y="2724912"/>
            <a:ext cx="228600" cy="384048"/>
          </a:xfrm>
          <a:prstGeom prst="chevron">
            <a:avLst/>
          </a:prstGeom>
          <a:solidFill>
            <a:srgbClr val="5D6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350008" y="1828800"/>
            <a:ext cx="1664208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50008" y="1828800"/>
            <a:ext cx="64008" cy="2377440"/>
          </a:xfrm>
          <a:prstGeom prst="rect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78608" y="1993392"/>
            <a:ext cx="12527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  <a:latin typeface="Aptos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2542032"/>
            <a:ext cx="1252728" cy="1508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33041"/>
                </a:solidFill>
                <a:latin typeface="Aptos"/>
              </a:rPr>
              <a:t>Endpoint
Discovery</a:t>
            </a:r>
          </a:p>
        </p:txBody>
      </p:sp>
      <p:sp>
        <p:nvSpPr>
          <p:cNvPr id="15" name="Chevron 14"/>
          <p:cNvSpPr/>
          <p:nvPr/>
        </p:nvSpPr>
        <p:spPr>
          <a:xfrm>
            <a:off x="4032504" y="2724912"/>
            <a:ext cx="228600" cy="384048"/>
          </a:xfrm>
          <a:prstGeom prst="chevron">
            <a:avLst/>
          </a:prstGeom>
          <a:solidFill>
            <a:srgbClr val="5D6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88536" y="1828800"/>
            <a:ext cx="1664208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88536" y="1828800"/>
            <a:ext cx="64008" cy="2377440"/>
          </a:xfrm>
          <a:prstGeom prst="rect">
            <a:avLst/>
          </a:prstGeom>
          <a:solidFill>
            <a:srgbClr val="E2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17136" y="1993392"/>
            <a:ext cx="12527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  <a:latin typeface="Aptos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2542032"/>
            <a:ext cx="1252728" cy="1508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33041"/>
                </a:solidFill>
                <a:latin typeface="Aptos"/>
              </a:rPr>
              <a:t>Authentication &amp;
Authorization</a:t>
            </a:r>
          </a:p>
        </p:txBody>
      </p:sp>
      <p:sp>
        <p:nvSpPr>
          <p:cNvPr id="20" name="Chevron 19"/>
          <p:cNvSpPr/>
          <p:nvPr/>
        </p:nvSpPr>
        <p:spPr>
          <a:xfrm>
            <a:off x="5971032" y="2724912"/>
            <a:ext cx="228600" cy="384048"/>
          </a:xfrm>
          <a:prstGeom prst="chevron">
            <a:avLst/>
          </a:prstGeom>
          <a:solidFill>
            <a:srgbClr val="5D6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27064" y="1828800"/>
            <a:ext cx="1664208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27064" y="1828800"/>
            <a:ext cx="64008" cy="2377440"/>
          </a:xfrm>
          <a:prstGeom prst="rect">
            <a:avLst/>
          </a:prstGeom>
          <a:solidFill>
            <a:srgbClr val="D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55664" y="1993392"/>
            <a:ext cx="12527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  <a:latin typeface="Aptos Display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542032"/>
            <a:ext cx="1252728" cy="1508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33041"/>
                </a:solidFill>
                <a:latin typeface="Aptos"/>
              </a:rPr>
              <a:t>Vulnerability
Testing</a:t>
            </a:r>
          </a:p>
        </p:txBody>
      </p:sp>
      <p:sp>
        <p:nvSpPr>
          <p:cNvPr id="25" name="Chevron 24"/>
          <p:cNvSpPr/>
          <p:nvPr/>
        </p:nvSpPr>
        <p:spPr>
          <a:xfrm>
            <a:off x="7909560" y="2724912"/>
            <a:ext cx="228600" cy="384048"/>
          </a:xfrm>
          <a:prstGeom prst="chevron">
            <a:avLst/>
          </a:prstGeom>
          <a:solidFill>
            <a:srgbClr val="5D6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65592" y="1828800"/>
            <a:ext cx="1664208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65592" y="1828800"/>
            <a:ext cx="64008" cy="2377440"/>
          </a:xfrm>
          <a:prstGeom prst="rect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94192" y="1993392"/>
            <a:ext cx="12527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  <a:latin typeface="Aptos Display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542032"/>
            <a:ext cx="1252728" cy="1508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33041"/>
                </a:solidFill>
                <a:latin typeface="Aptos"/>
              </a:rPr>
              <a:t>Burp Analysis</a:t>
            </a:r>
          </a:p>
        </p:txBody>
      </p:sp>
      <p:sp>
        <p:nvSpPr>
          <p:cNvPr id="30" name="Chevron 29"/>
          <p:cNvSpPr/>
          <p:nvPr/>
        </p:nvSpPr>
        <p:spPr>
          <a:xfrm>
            <a:off x="9848088" y="2724912"/>
            <a:ext cx="228600" cy="384048"/>
          </a:xfrm>
          <a:prstGeom prst="chevron">
            <a:avLst/>
          </a:prstGeom>
          <a:solidFill>
            <a:srgbClr val="5D6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104120" y="1828800"/>
            <a:ext cx="1664208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104120" y="1828800"/>
            <a:ext cx="64008" cy="237744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32720" y="1993392"/>
            <a:ext cx="12527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  <a:latin typeface="Aptos Display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2542032"/>
            <a:ext cx="1252728" cy="1508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33041"/>
                </a:solidFill>
                <a:latin typeface="Aptos"/>
              </a:rPr>
              <a:t>Evidence &amp;
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33C"/>
                </a:solidFill>
                <a:latin typeface="Aptos Display"/>
              </a:rPr>
              <a:t>Authentication &amp; Endpoint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C7F"/>
                </a:solidFill>
              </a:rPr>
              <a:t>Validating API behavior before vulnerability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C7F"/>
                </a:solidFill>
              </a:rPr>
              <a:t>API Security Testing • VAmPI  |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52628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Endpoint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297180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Swagger/OpenAPI reviewed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Registration endpoint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Login endpoint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User information endpoints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Protected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64008" cy="4526280"/>
          </a:xfrm>
          <a:prstGeom prst="rect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49047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297180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User registration tested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Login request tested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Authentication token obtained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Invalid / expired token → 401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Protected requests tested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64008" cy="4526280"/>
          </a:xfrm>
          <a:prstGeom prst="rect">
            <a:avLst/>
          </a:prstGeom>
          <a:solidFill>
            <a:srgbClr val="E2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49047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Authorization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39112"/>
            <a:ext cx="297180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Protected endpoints tested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Admin-level operation checked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Access-control behavior observed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Valid vs invalid access compared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15F5E0-C683-2345-DE5C-0F1EB37FE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80739" cy="50002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816396-40EB-B83C-444A-50A0C854C359}"/>
              </a:ext>
            </a:extLst>
          </p:cNvPr>
          <p:cNvSpPr txBox="1"/>
          <p:nvPr/>
        </p:nvSpPr>
        <p:spPr>
          <a:xfrm>
            <a:off x="0" y="5220183"/>
            <a:ext cx="118293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Registration API – Successful Response</a:t>
            </a:r>
            <a:r>
              <a:rPr lang="en-IN" dirty="0"/>
              <a:t> </a:t>
            </a:r>
          </a:p>
          <a:p>
            <a:r>
              <a:rPr lang="en-IN" dirty="0"/>
              <a:t>• User registration request was submitted successfully</a:t>
            </a:r>
          </a:p>
          <a:p>
            <a:r>
              <a:rPr lang="en-IN" dirty="0"/>
              <a:t> • API returned a successful response</a:t>
            </a:r>
          </a:p>
          <a:p>
            <a:r>
              <a:rPr lang="en-IN" dirty="0"/>
              <a:t> • Registration endpoint </a:t>
            </a:r>
            <a:r>
              <a:rPr lang="en-IN" dirty="0" err="1"/>
              <a:t>behavior</a:t>
            </a:r>
            <a:r>
              <a:rPr lang="en-IN" dirty="0"/>
              <a:t> was verified </a:t>
            </a:r>
            <a:endParaRPr lang="en-IN" b="1" dirty="0"/>
          </a:p>
          <a:p>
            <a:r>
              <a:rPr lang="en-IN" dirty="0"/>
              <a:t> “Here I tested the registration endpoint and verified that the API successfully processed the request.”</a:t>
            </a:r>
          </a:p>
        </p:txBody>
      </p:sp>
    </p:spTree>
    <p:extLst>
      <p:ext uri="{BB962C8B-B14F-4D97-AF65-F5344CB8AC3E}">
        <p14:creationId xmlns:p14="http://schemas.microsoft.com/office/powerpoint/2010/main" val="1709737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AAA199-73FB-4B28-2753-A013366713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515"/>
          <a:stretch>
            <a:fillRect/>
          </a:stretch>
        </p:blipFill>
        <p:spPr>
          <a:xfrm>
            <a:off x="-1" y="1"/>
            <a:ext cx="12227824" cy="515612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DE3F54D-33BC-4382-A2AB-5E002F0F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798451A-4EC8-4869-8DFB-BCE4E00BE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0ECD12F-47FF-48FE-A827-069775A8A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8928757-970C-4B99-9F9C-0C07E4A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1213505B-6136-49EC-951C-1FDA2A6C5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65E00E4-5C40-F626-FAC2-74ED72E48915}"/>
              </a:ext>
            </a:extLst>
          </p:cNvPr>
          <p:cNvSpPr txBox="1"/>
          <p:nvPr/>
        </p:nvSpPr>
        <p:spPr>
          <a:xfrm>
            <a:off x="104172" y="5241102"/>
            <a:ext cx="85421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Login API – Authentication Success</a:t>
            </a:r>
          </a:p>
          <a:p>
            <a:r>
              <a:rPr lang="en-IN" dirty="0"/>
              <a:t> • Login request was tested with valid credentials </a:t>
            </a:r>
          </a:p>
          <a:p>
            <a:r>
              <a:rPr lang="en-IN" dirty="0"/>
              <a:t>• Authentication was successful</a:t>
            </a:r>
          </a:p>
          <a:p>
            <a:r>
              <a:rPr lang="en-IN" dirty="0"/>
              <a:t> • Token-based authentication was verified </a:t>
            </a:r>
            <a:endParaRPr lang="en-IN" b="1" dirty="0"/>
          </a:p>
          <a:p>
            <a:r>
              <a:rPr lang="en-IN" dirty="0"/>
              <a:t> “After registration, I tested the login endpoint and verified successful authentication.”</a:t>
            </a:r>
          </a:p>
        </p:txBody>
      </p:sp>
    </p:spTree>
    <p:extLst>
      <p:ext uri="{BB962C8B-B14F-4D97-AF65-F5344CB8AC3E}">
        <p14:creationId xmlns:p14="http://schemas.microsoft.com/office/powerpoint/2010/main" val="619292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33C"/>
                </a:solidFill>
                <a:latin typeface="Aptos Display"/>
              </a:rPr>
              <a:t>Mass Assignment → Privilege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C7F"/>
                </a:solidFill>
              </a:rPr>
              <a:t>Key security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C7F"/>
                </a:solidFill>
              </a:rPr>
              <a:t>API Security Testing • VAmPI  |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52628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297180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3041"/>
                </a:solidFill>
                <a:latin typeface="Aptos"/>
              </a:defRPr>
            </a:pPr>
            <a:r>
              <a:t>• Registration request modified</a:t>
            </a:r>
          </a:p>
          <a:p>
            <a:pPr>
              <a:spcAft>
                <a:spcPts val="800"/>
              </a:spcAft>
              <a:defRPr sz="1500">
                <a:solidFill>
                  <a:srgbClr val="233041"/>
                </a:solidFill>
                <a:latin typeface="Aptos"/>
              </a:defRPr>
            </a:pPr>
            <a:r>
              <a:t>• Unexpected privilege field added</a:t>
            </a:r>
          </a:p>
          <a:p>
            <a:pPr>
              <a:spcAft>
                <a:spcPts val="800"/>
              </a:spcAft>
              <a:defRPr sz="1500">
                <a:solidFill>
                  <a:srgbClr val="233041"/>
                </a:solidFill>
                <a:latin typeface="Aptos"/>
              </a:defRPr>
            </a:pPr>
            <a:r>
              <a:t>• admin: true</a:t>
            </a:r>
          </a:p>
          <a:p>
            <a:pPr>
              <a:spcAft>
                <a:spcPts val="800"/>
              </a:spcAft>
              <a:defRPr sz="1500">
                <a:solidFill>
                  <a:srgbClr val="233041"/>
                </a:solidFill>
                <a:latin typeface="Aptos"/>
              </a:defRPr>
            </a:pPr>
            <a:r>
              <a:t>• Request submitted through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64008" cy="4526280"/>
          </a:xfrm>
          <a:prstGeom prst="rect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49047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Observed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297180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Response: 200 OK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Account creation succeeded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User status was verified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Created account showed admin privileges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64008" cy="4526280"/>
          </a:xfrm>
          <a:prstGeom prst="rect">
            <a:avLst/>
          </a:prstGeom>
          <a:solidFill>
            <a:srgbClr val="D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49047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Security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39112"/>
            <a:ext cx="297180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Client controls a privilege field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Unauthorized privilege escalation possible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Administrative access may be gained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Sensitive fields should be server-controlled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7AF553-83F3-8560-D3B4-AC8C40F6F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687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9B1D8F-E43C-0657-A3E8-4ED18BEC7185}"/>
              </a:ext>
            </a:extLst>
          </p:cNvPr>
          <p:cNvSpPr txBox="1"/>
          <p:nvPr/>
        </p:nvSpPr>
        <p:spPr>
          <a:xfrm>
            <a:off x="173620" y="4872942"/>
            <a:ext cx="114936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Mass Assignment – Privilege Field Testing</a:t>
            </a:r>
          </a:p>
          <a:p>
            <a:r>
              <a:rPr lang="en-IN" dirty="0"/>
              <a:t>• Registration request was modified </a:t>
            </a:r>
          </a:p>
          <a:p>
            <a:r>
              <a:rPr lang="en-IN" dirty="0"/>
              <a:t>• admin: true was added as an unexpected field </a:t>
            </a:r>
          </a:p>
          <a:p>
            <a:r>
              <a:rPr lang="en-IN" dirty="0"/>
              <a:t>• Server accepted the modified request</a:t>
            </a:r>
          </a:p>
          <a:p>
            <a:r>
              <a:rPr lang="en-IN" dirty="0"/>
              <a:t>• Privilege-related </a:t>
            </a:r>
            <a:r>
              <a:rPr lang="en-IN" dirty="0" err="1"/>
              <a:t>behavior</a:t>
            </a:r>
            <a:r>
              <a:rPr lang="en-IN" dirty="0"/>
              <a:t> was observed </a:t>
            </a:r>
            <a:endParaRPr lang="en-IN" b="1" dirty="0"/>
          </a:p>
          <a:p>
            <a:r>
              <a:rPr lang="en-IN" dirty="0"/>
              <a:t> “Here I modified the registration request by adding a privilege-related parameter to test for mass assignment.”</a:t>
            </a:r>
          </a:p>
        </p:txBody>
      </p:sp>
    </p:spTree>
    <p:extLst>
      <p:ext uri="{BB962C8B-B14F-4D97-AF65-F5344CB8AC3E}">
        <p14:creationId xmlns:p14="http://schemas.microsoft.com/office/powerpoint/2010/main" val="1824014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33C"/>
                </a:solidFill>
                <a:latin typeface="Aptos Display"/>
              </a:rPr>
              <a:t>Rate-Limiting &amp; API Information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C7F"/>
                </a:solidFill>
              </a:rPr>
              <a:t>Controlled observations from repeated requests and user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C7F"/>
                </a:solidFill>
              </a:rPr>
              <a:t>API Security Testing • VAmPI  |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38328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64008" cy="4617720"/>
          </a:xfrm>
          <a:prstGeom prst="rect">
            <a:avLst/>
          </a:prstGeom>
          <a:solidFill>
            <a:srgbClr val="E2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9903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Rate-Limiting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2971800" cy="37490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Same request submitted repeatedly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Request body was unchanged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Multiple requests returned successful responses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No formal threshold benchmark was established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Recorded as an observation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38328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64008" cy="4617720"/>
          </a:xfrm>
          <a:prstGeom prst="rect">
            <a:avLst/>
          </a:prstGeom>
          <a:solidFill>
            <a:srgbClr val="D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39903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Information 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47672"/>
            <a:ext cx="2971800" cy="37490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Existing-user request tested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Username returned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Email returned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Invalid username → 404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Response behavior documented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38328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64008" cy="4617720"/>
          </a:xfrm>
          <a:prstGeom prst="rect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39903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Security Considerations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947672"/>
            <a:ext cx="2971800" cy="37490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Apply effective throttling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Enforce strong authorization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Minimize sensitive response data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Use consistent error handling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Retest after remediation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464F02-D47D-3F54-2D5F-FD28C8F81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5025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714F95-160A-8C3C-286D-C7A7FE7BA9D2}"/>
              </a:ext>
            </a:extLst>
          </p:cNvPr>
          <p:cNvSpPr txBox="1"/>
          <p:nvPr/>
        </p:nvSpPr>
        <p:spPr>
          <a:xfrm>
            <a:off x="254643" y="4629874"/>
            <a:ext cx="115399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API Information Exposure – Debug Endpoint</a:t>
            </a:r>
          </a:p>
          <a:p>
            <a:r>
              <a:rPr lang="en-IN" dirty="0"/>
              <a:t> • Debug endpoint was accessed in the lab environment </a:t>
            </a:r>
          </a:p>
          <a:p>
            <a:r>
              <a:rPr lang="en-IN" dirty="0"/>
              <a:t> • User information was displayed</a:t>
            </a:r>
          </a:p>
          <a:p>
            <a:r>
              <a:rPr lang="en-IN" dirty="0"/>
              <a:t> • Username and email information were visible</a:t>
            </a:r>
          </a:p>
          <a:p>
            <a:r>
              <a:rPr lang="en-IN" dirty="0"/>
              <a:t> • Information exposure was documented </a:t>
            </a:r>
            <a:endParaRPr lang="en-IN" b="1" dirty="0"/>
          </a:p>
          <a:p>
            <a:r>
              <a:rPr lang="en-IN" dirty="0"/>
              <a:t>“This test showed that the debug endpoint could expose user-related information, which should be restricted in a production environment.”</a:t>
            </a:r>
          </a:p>
        </p:txBody>
      </p:sp>
    </p:spTree>
    <p:extLst>
      <p:ext uri="{BB962C8B-B14F-4D97-AF65-F5344CB8AC3E}">
        <p14:creationId xmlns:p14="http://schemas.microsoft.com/office/powerpoint/2010/main" val="910115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33C"/>
                </a:solidFill>
                <a:latin typeface="Aptos Display"/>
              </a:rPr>
              <a:t>Burp Suite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C7F"/>
                </a:solidFill>
              </a:rPr>
              <a:t>Intercepting and analyzing API traffic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C7F"/>
                </a:solidFill>
              </a:rPr>
              <a:t>API Security Testing • VAmPI  |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52628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Proxy / Intercept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297180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Postman traffic routed through Burp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Proxy interception enabled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API request captured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Request forwarded after inspection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64008" cy="4526280"/>
          </a:xfrm>
          <a:prstGeom prst="rect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49047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HTTP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297180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Captured request reviewed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HTTP method inspected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URL / path inspected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Headers and response reviewed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64008" cy="4526280"/>
          </a:xfrm>
          <a:prstGeom prst="rect">
            <a:avLst/>
          </a:prstGeom>
          <a:solidFill>
            <a:srgbClr val="E2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49047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Repeater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39112"/>
            <a:ext cx="297180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Request sent to Repeater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Parameter modified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Server response compared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Useful for controlled testing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8518E8-762C-E0E3-E6B1-CF90B949C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965" y="857250"/>
            <a:ext cx="5715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B159DD-78A9-2E57-F4AE-E407B342C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965" y="848458"/>
            <a:ext cx="5715000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D9FBD1-E678-631C-81ED-54261D79B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965" y="857250"/>
            <a:ext cx="5715000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8B1B63-4317-2BF4-8521-85860BA04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27038" cy="48034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DC5F3B-C9CD-1BFC-E0C7-E307E43BF0A8}"/>
              </a:ext>
            </a:extLst>
          </p:cNvPr>
          <p:cNvSpPr txBox="1"/>
          <p:nvPr/>
        </p:nvSpPr>
        <p:spPr>
          <a:xfrm>
            <a:off x="451413" y="4953965"/>
            <a:ext cx="81022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Burp Suite – HTTP History</a:t>
            </a:r>
            <a:r>
              <a:rPr lang="en-IN" dirty="0"/>
              <a:t> </a:t>
            </a:r>
          </a:p>
          <a:p>
            <a:r>
              <a:rPr lang="en-IN" dirty="0"/>
              <a:t>• API traffic was captured through Burp Suite </a:t>
            </a:r>
          </a:p>
          <a:p>
            <a:r>
              <a:rPr lang="en-IN" dirty="0"/>
              <a:t>• Request and response were inspected </a:t>
            </a:r>
          </a:p>
          <a:p>
            <a:r>
              <a:rPr lang="en-IN" dirty="0"/>
              <a:t>• HTTP method and URL were reviewed </a:t>
            </a:r>
          </a:p>
          <a:p>
            <a:r>
              <a:rPr lang="en-IN" dirty="0"/>
              <a:t>• Response </a:t>
            </a:r>
            <a:r>
              <a:rPr lang="en-IN" dirty="0" err="1"/>
              <a:t>behavior</a:t>
            </a:r>
            <a:r>
              <a:rPr lang="en-IN" dirty="0"/>
              <a:t> was </a:t>
            </a:r>
            <a:r>
              <a:rPr lang="en-IN" dirty="0" err="1"/>
              <a:t>analyzed</a:t>
            </a:r>
            <a:r>
              <a:rPr lang="en-IN" dirty="0"/>
              <a:t> </a:t>
            </a:r>
            <a:endParaRPr lang="en-IN" b="1" dirty="0"/>
          </a:p>
          <a:p>
            <a:r>
              <a:rPr lang="en-IN" dirty="0"/>
              <a:t> “Burp Suite was used to capture and </a:t>
            </a:r>
            <a:r>
              <a:rPr lang="en-IN" dirty="0" err="1"/>
              <a:t>analyze</a:t>
            </a:r>
            <a:r>
              <a:rPr lang="en-IN" dirty="0"/>
              <a:t> the API request and response.”</a:t>
            </a:r>
          </a:p>
        </p:txBody>
      </p:sp>
    </p:spTree>
    <p:extLst>
      <p:ext uri="{BB962C8B-B14F-4D97-AF65-F5344CB8AC3E}">
        <p14:creationId xmlns:p14="http://schemas.microsoft.com/office/powerpoint/2010/main" val="3771557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F8BC12-801E-A06C-47E2-40E630E98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5951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6606AC-7030-9D3A-367A-DE821B2EB1C6}"/>
              </a:ext>
            </a:extLst>
          </p:cNvPr>
          <p:cNvSpPr txBox="1"/>
          <p:nvPr/>
        </p:nvSpPr>
        <p:spPr>
          <a:xfrm>
            <a:off x="0" y="4861367"/>
            <a:ext cx="116672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Burp Repeater – 404 Error Testing</a:t>
            </a:r>
            <a:r>
              <a:rPr lang="en-IN" dirty="0"/>
              <a:t> </a:t>
            </a:r>
          </a:p>
          <a:p>
            <a:r>
              <a:rPr lang="en-IN" dirty="0"/>
              <a:t>• Captured request was sent to Repeater </a:t>
            </a:r>
          </a:p>
          <a:p>
            <a:r>
              <a:rPr lang="en-IN" dirty="0"/>
              <a:t>• Request parameter was modified </a:t>
            </a:r>
          </a:p>
          <a:p>
            <a:r>
              <a:rPr lang="en-IN" dirty="0"/>
              <a:t>• Invalid user/request was tested </a:t>
            </a:r>
          </a:p>
          <a:p>
            <a:r>
              <a:rPr lang="en-IN" dirty="0"/>
              <a:t>• Server returned </a:t>
            </a:r>
            <a:r>
              <a:rPr lang="en-IN" b="1" dirty="0"/>
              <a:t>404 Not Found</a:t>
            </a:r>
            <a:r>
              <a:rPr lang="en-IN" dirty="0"/>
              <a:t> </a:t>
            </a:r>
            <a:endParaRPr lang="en-IN" b="1" dirty="0"/>
          </a:p>
          <a:p>
            <a:r>
              <a:rPr lang="en-IN" dirty="0"/>
              <a:t> “Using Burp Repeater, I modified the request and tested an invalid resource. The API correctly returned a 404 response.”</a:t>
            </a:r>
          </a:p>
        </p:txBody>
      </p:sp>
    </p:spTree>
    <p:extLst>
      <p:ext uri="{BB962C8B-B14F-4D97-AF65-F5344CB8AC3E}">
        <p14:creationId xmlns:p14="http://schemas.microsoft.com/office/powerpoint/2010/main" val="246031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C7F"/>
                </a:solidFill>
                <a:latin typeface="Aptos"/>
              </a:rPr>
              <a:t>API Security Testing • VAmPI  |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Key Findings &amp;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C7F"/>
                </a:solidFill>
              </a:rPr>
              <a:t>Summary of practical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64008" cy="685800"/>
          </a:xfrm>
          <a:prstGeom prst="rect">
            <a:avLst/>
          </a:prstGeom>
          <a:solidFill>
            <a:srgbClr val="D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399032"/>
            <a:ext cx="5605574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4233C"/>
                </a:solidFill>
                <a:latin typeface="Aptos Display"/>
              </a:rPr>
              <a:t>HIGH</a:t>
            </a:r>
            <a:r>
              <a:rPr lang="en-US" sz="1500" b="1" dirty="0">
                <a:solidFill>
                  <a:srgbClr val="14233C"/>
                </a:solidFill>
                <a:latin typeface="Aptos Display"/>
              </a:rPr>
              <a:t>                                          </a:t>
            </a:r>
            <a:r>
              <a:rPr lang="en-IN" sz="1600" dirty="0">
                <a:solidFill>
                  <a:srgbClr val="233041"/>
                </a:solidFill>
                <a:latin typeface="Aptos"/>
              </a:rPr>
              <a:t>Mass Assignment / Privilege Escalation</a:t>
            </a:r>
          </a:p>
          <a:p>
            <a:endParaRPr sz="1500" b="1" dirty="0">
              <a:solidFill>
                <a:srgbClr val="14233C"/>
              </a:solidFill>
              <a:latin typeface="Aptos Display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10698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148840"/>
            <a:ext cx="64008" cy="685800"/>
          </a:xfrm>
          <a:prstGeom prst="rect">
            <a:avLst/>
          </a:prstGeom>
          <a:solidFill>
            <a:srgbClr val="D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313432"/>
            <a:ext cx="4955587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4233C"/>
                </a:solidFill>
                <a:latin typeface="Aptos Display"/>
              </a:rPr>
              <a:t>HIGH</a:t>
            </a:r>
            <a:r>
              <a:rPr lang="en-US" sz="1500" b="1" dirty="0">
                <a:solidFill>
                  <a:srgbClr val="14233C"/>
                </a:solidFill>
                <a:latin typeface="Aptos Display"/>
              </a:rPr>
              <a:t>                                           </a:t>
            </a:r>
            <a:r>
              <a:rPr lang="en-IN" sz="1600" dirty="0">
                <a:solidFill>
                  <a:srgbClr val="233041"/>
                </a:solidFill>
                <a:latin typeface="Aptos"/>
              </a:rPr>
              <a:t>Sensitive Information Exposure</a:t>
            </a:r>
          </a:p>
          <a:p>
            <a:endParaRPr sz="1500" b="1" dirty="0">
              <a:solidFill>
                <a:srgbClr val="14233C"/>
              </a:solidFill>
              <a:latin typeface="Aptos Display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3063240"/>
            <a:ext cx="10698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063240"/>
            <a:ext cx="64008" cy="685800"/>
          </a:xfrm>
          <a:prstGeom prst="rect">
            <a:avLst/>
          </a:prstGeom>
          <a:solidFill>
            <a:srgbClr val="E2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227832"/>
            <a:ext cx="4906280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4233C"/>
                </a:solidFill>
                <a:latin typeface="Aptos Display"/>
              </a:rPr>
              <a:t>MEDIUM</a:t>
            </a:r>
            <a:r>
              <a:rPr lang="en-US" sz="1500" b="1" dirty="0">
                <a:solidFill>
                  <a:srgbClr val="14233C"/>
                </a:solidFill>
                <a:latin typeface="Aptos Display"/>
              </a:rPr>
              <a:t>                                           </a:t>
            </a:r>
            <a:r>
              <a:rPr lang="en-IN" sz="1600" dirty="0">
                <a:solidFill>
                  <a:srgbClr val="233041"/>
                </a:solidFill>
                <a:latin typeface="Aptos"/>
              </a:rPr>
              <a:t>API Information Exposure</a:t>
            </a:r>
          </a:p>
          <a:p>
            <a:endParaRPr sz="1500" b="1" dirty="0">
              <a:solidFill>
                <a:srgbClr val="14233C"/>
              </a:solidFill>
              <a:latin typeface="Aptos Display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10698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977639"/>
            <a:ext cx="64008" cy="685800"/>
          </a:xfrm>
          <a:prstGeom prst="rect">
            <a:avLst/>
          </a:prstGeom>
          <a:solidFill>
            <a:srgbClr val="E2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142231"/>
            <a:ext cx="4473725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4233C"/>
                </a:solidFill>
                <a:latin typeface="Aptos Display"/>
              </a:rPr>
              <a:t>OBSERVATION</a:t>
            </a:r>
            <a:r>
              <a:rPr lang="en-US" sz="1500" b="1" dirty="0">
                <a:solidFill>
                  <a:srgbClr val="14233C"/>
                </a:solidFill>
                <a:latin typeface="Aptos Display"/>
              </a:rPr>
              <a:t>                             </a:t>
            </a:r>
            <a:r>
              <a:rPr lang="en-IN" sz="1600" dirty="0">
                <a:solidFill>
                  <a:srgbClr val="233041"/>
                </a:solidFill>
                <a:latin typeface="Aptos"/>
              </a:rPr>
              <a:t>Rate-Limiting </a:t>
            </a:r>
            <a:r>
              <a:rPr lang="en-IN" sz="1600" dirty="0" err="1">
                <a:solidFill>
                  <a:srgbClr val="233041"/>
                </a:solidFill>
                <a:latin typeface="Aptos"/>
              </a:rPr>
              <a:t>Behavior</a:t>
            </a:r>
            <a:endParaRPr lang="en-IN" sz="1600" dirty="0">
              <a:solidFill>
                <a:srgbClr val="233041"/>
              </a:solidFill>
              <a:latin typeface="Aptos"/>
            </a:endParaRPr>
          </a:p>
          <a:p>
            <a:endParaRPr sz="1500" b="1" dirty="0">
              <a:solidFill>
                <a:srgbClr val="14233C"/>
              </a:solidFill>
              <a:latin typeface="Aptos Display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4892040"/>
            <a:ext cx="10698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4892040"/>
            <a:ext cx="64008" cy="685800"/>
          </a:xfrm>
          <a:prstGeom prst="rect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056631"/>
            <a:ext cx="6052683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4233C"/>
                </a:solidFill>
                <a:latin typeface="Aptos Display"/>
              </a:rPr>
              <a:t>INFO</a:t>
            </a:r>
            <a:r>
              <a:rPr lang="en-US" sz="1500" b="1" dirty="0">
                <a:solidFill>
                  <a:srgbClr val="14233C"/>
                </a:solidFill>
                <a:latin typeface="Aptos Display"/>
              </a:rPr>
              <a:t>                                                     </a:t>
            </a:r>
            <a:r>
              <a:rPr lang="en-IN" sz="1600" dirty="0">
                <a:solidFill>
                  <a:srgbClr val="233041"/>
                </a:solidFill>
                <a:latin typeface="Aptos"/>
              </a:rPr>
              <a:t>Authentication &amp; Authorization </a:t>
            </a:r>
            <a:r>
              <a:rPr lang="en-IN" sz="1600" dirty="0" err="1">
                <a:solidFill>
                  <a:srgbClr val="233041"/>
                </a:solidFill>
                <a:latin typeface="Aptos"/>
              </a:rPr>
              <a:t>Behavior</a:t>
            </a:r>
            <a:endParaRPr lang="en-IN" sz="1600" dirty="0">
              <a:solidFill>
                <a:srgbClr val="233041"/>
              </a:solidFill>
              <a:latin typeface="Aptos"/>
            </a:endParaRPr>
          </a:p>
          <a:p>
            <a:endParaRPr sz="1500" b="1" dirty="0">
              <a:solidFill>
                <a:srgbClr val="14233C"/>
              </a:solidFill>
              <a:latin typeface="Aptos Display"/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EE10094-9860-6DE3-6A0C-57FA2D7C45A6}"/>
              </a:ext>
            </a:extLst>
          </p:cNvPr>
          <p:cNvSpPr/>
          <p:nvPr/>
        </p:nvSpPr>
        <p:spPr>
          <a:xfrm>
            <a:off x="1921398" y="1428921"/>
            <a:ext cx="963418" cy="263183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303E913-9234-E7CC-4367-254F8C1E46FF}"/>
              </a:ext>
            </a:extLst>
          </p:cNvPr>
          <p:cNvSpPr/>
          <p:nvPr/>
        </p:nvSpPr>
        <p:spPr>
          <a:xfrm>
            <a:off x="1828800" y="2359152"/>
            <a:ext cx="1056015" cy="274317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B5872070-6339-9F4F-A08F-5583DBDEE772}"/>
              </a:ext>
            </a:extLst>
          </p:cNvPr>
          <p:cNvSpPr/>
          <p:nvPr/>
        </p:nvSpPr>
        <p:spPr>
          <a:xfrm>
            <a:off x="2103522" y="3321729"/>
            <a:ext cx="876960" cy="210863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  <a:endParaRPr lang="en-IN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AA19225A-624D-9571-22E0-4229407F5CBC}"/>
              </a:ext>
            </a:extLst>
          </p:cNvPr>
          <p:cNvSpPr/>
          <p:nvPr/>
        </p:nvSpPr>
        <p:spPr>
          <a:xfrm>
            <a:off x="2388966" y="4215383"/>
            <a:ext cx="828796" cy="203847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97822E0-F0C0-AC7B-F640-5DA2A201D425}"/>
              </a:ext>
            </a:extLst>
          </p:cNvPr>
          <p:cNvSpPr/>
          <p:nvPr/>
        </p:nvSpPr>
        <p:spPr>
          <a:xfrm>
            <a:off x="2103521" y="5109644"/>
            <a:ext cx="1093461" cy="221482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33C"/>
                </a:solidFill>
                <a:latin typeface="Aptos Display"/>
              </a:rPr>
              <a:t>Challenges Faced &amp; How They Were 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C7F"/>
                </a:solidFill>
              </a:rPr>
              <a:t>Troubleshooting was part of the practical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C7F"/>
                </a:solidFill>
              </a:rPr>
              <a:t>API Security Testing • VAmPI  |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64008" cy="457200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44751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93391"/>
            <a:ext cx="4800600" cy="3703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VAmPI initially returned a 500 database error</a:t>
            </a:r>
          </a:p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SQLite initialization caused duplicate-record issues</a:t>
            </a:r>
          </a:p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Invalid / expired tokens returned 401</a:t>
            </a:r>
          </a:p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Postman traffic initially did not appear in Burp</a:t>
            </a:r>
          </a:p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Some modified usernames returned 404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64008" cy="4572000"/>
          </a:xfrm>
          <a:prstGeom prst="rect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44751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Solutions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93391"/>
            <a:ext cx="4800600" cy="3703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Inspected Docker logs and application files</a:t>
            </a:r>
          </a:p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Verified database initialization</a:t>
            </a:r>
          </a:p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Performed fresh login with a valid token</a:t>
            </a:r>
          </a:p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Configured local Burp proxy</a:t>
            </a:r>
          </a:p>
          <a:p>
            <a:pPr>
              <a:spcAft>
                <a:spcPts val="8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Compared valid and invalid parameters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33C"/>
                </a:solidFill>
                <a:latin typeface="Aptos Display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C7F"/>
                </a:solidFill>
              </a:rPr>
              <a:t>Skills gained from the practical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C7F"/>
                </a:solidFill>
              </a:rPr>
              <a:t>API Security Testing • VAmPI  |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64008" cy="457200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44751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Technical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93391"/>
            <a:ext cx="4800600" cy="3703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API endpoint discovery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Postman request / response analysis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Burp Proxy, HTTP History &amp; Repeater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Authentication &amp; authorization testing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Mass assignment testing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Docker troubleshooting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64008" cy="4572000"/>
          </a:xfrm>
          <a:prstGeom prst="rect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44751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Security Understanding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93391"/>
            <a:ext cx="4800600" cy="3703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Privilege-related parameter risks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Least-privilege importance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API information exposure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Rate-limiting considerations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Evidence-based reporting</a:t>
            </a:r>
          </a:p>
          <a:p>
            <a:pPr>
              <a:spcAft>
                <a:spcPts val="800"/>
              </a:spcAft>
              <a:defRPr sz="1350">
                <a:solidFill>
                  <a:srgbClr val="233041"/>
                </a:solidFill>
                <a:latin typeface="Aptos"/>
              </a:defRPr>
            </a:pPr>
            <a:r>
              <a:t>• Practical security assessment workflow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33C"/>
                </a:solidFill>
                <a:latin typeface="Aptos Display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C7F"/>
                </a:solidFill>
              </a:rPr>
              <a:t>Final project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C7F"/>
                </a:solidFill>
              </a:rPr>
              <a:t>API Security Testing • VAmPI  |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48056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4800600" cy="3611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Completed a practical VAmPI API security assessment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Used Docker, Swagger UI, Postman &amp; Burp Suite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Tested authentication and authorization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Analyzed requests and responses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Identified and documented security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4008" cy="4480560"/>
          </a:xfrm>
          <a:prstGeom prst="rect">
            <a:avLst/>
          </a:prstGeom>
          <a:solidFill>
            <a:srgbClr val="1C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90472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</a:rP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39112"/>
            <a:ext cx="4800600" cy="3611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Expand testing across OWASP API Security Top 10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Perform structured rate-limit threshold testing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Expand JWT and role-based authorization testing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Automate API checks in CI/CD</a:t>
            </a:r>
          </a:p>
          <a:p>
            <a:pPr>
              <a:spcAft>
                <a:spcPts val="800"/>
              </a:spcAft>
              <a:defRPr sz="1400">
                <a:solidFill>
                  <a:srgbClr val="233041"/>
                </a:solidFill>
                <a:latin typeface="Aptos"/>
              </a:defRPr>
            </a:pPr>
            <a:r>
              <a:t>• Apply remediation and perform retesting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C7F"/>
                </a:solidFill>
                <a:latin typeface="Aptos"/>
              </a:rPr>
              <a:t>API Security Testing • VAmPI  | 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33C"/>
                </a:solidFill>
                <a:latin typeface="Aptos Display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C7F"/>
                </a:solidFill>
              </a:rPr>
              <a:t>Resources used for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64008" cy="438912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536192"/>
            <a:ext cx="10104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33C"/>
                </a:solidFill>
                <a:latin typeface="Aptos Display"/>
              </a:rPr>
              <a:t>Reference Areas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84832"/>
            <a:ext cx="10104120" cy="352043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233041"/>
                </a:solidFill>
                <a:latin typeface="Aptos"/>
              </a:rPr>
              <a:t>1. OWASP API Security Top 10
2. VAmPI vulnerable API documentation/source
3. OpenAPI Specification
4. Postman documentation
5. Burp Suite documentation
6. Docker documentation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14C977-FD02-D8B2-5C99-E9E75172D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45246" y="1180619"/>
            <a:ext cx="6820961" cy="37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802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1324</Words>
  <Application>Microsoft Office PowerPoint</Application>
  <PresentationFormat>Widescreen</PresentationFormat>
  <Paragraphs>268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Ridhi Jain</cp:lastModifiedBy>
  <cp:revision>2</cp:revision>
  <dcterms:created xsi:type="dcterms:W3CDTF">2013-01-27T09:14:16Z</dcterms:created>
  <dcterms:modified xsi:type="dcterms:W3CDTF">2026-08-10T08:14:06Z</dcterms:modified>
  <cp:category/>
</cp:coreProperties>
</file>